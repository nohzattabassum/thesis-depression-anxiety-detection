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368" r:id="rId4"/>
    <p:sldId id="335" r:id="rId5"/>
    <p:sldId id="372" r:id="rId6"/>
    <p:sldId id="373" r:id="rId7"/>
    <p:sldId id="336" r:id="rId8"/>
    <p:sldId id="285" r:id="rId9"/>
    <p:sldId id="353" r:id="rId10"/>
    <p:sldId id="322" r:id="rId11"/>
    <p:sldId id="32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061" autoAdjust="0"/>
  </p:normalViewPr>
  <p:slideViewPr>
    <p:cSldViewPr snapToGrid="0">
      <p:cViewPr varScale="1">
        <p:scale>
          <a:sx n="111" d="100"/>
          <a:sy n="111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E9B7D0-61A9-4791-85DC-5D660DDD48F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2716829-4C6A-4C74-9990-60DEEC41179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Research Gaps and Problem Statement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9DD2791-12E4-4D6B-B01B-CF757B1325B4}" type="parTrans" cxnId="{5CCB30FD-D0B4-4344-8CF2-D4BB7F6D428E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C5F259-5362-4348-A993-19D2E91765E9}" type="sibTrans" cxnId="{5CCB30FD-D0B4-4344-8CF2-D4BB7F6D428E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B7069CC-F4A6-4DCC-8661-B4BDB168129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Methodology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0FDF70-FCC5-4F5F-9ACC-7A0E67365622}" type="parTrans" cxnId="{A8E75DB3-3AD4-42A4-A30F-05FEAFF4AF85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F09E3F-6EAE-4739-ADA9-F873459B8726}" type="sibTrans" cxnId="{A8E75DB3-3AD4-42A4-A30F-05FEAFF4AF85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791EBB4-EDEF-4697-B28F-0D03F6CAF17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References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2B4BBFC-C033-451D-BCA9-B0A9A12186E5}" type="parTrans" cxnId="{A2DE022F-9DBE-4B98-99D9-55F41A02EEDE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03FB6E4-CFDE-418A-968E-EDDAAE12890C}" type="sibTrans" cxnId="{A2DE022F-9DBE-4B98-99D9-55F41A02EEDE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B7121D-231D-4423-90DA-C2242917405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>
              <a:latin typeface="Times New Roman" panose="02020603050405020304" pitchFamily="18" charset="0"/>
              <a:cs typeface="Times New Roman" panose="02020603050405020304" pitchFamily="18" charset="0"/>
            </a:rPr>
            <a:t>Publications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BB37717-C8E0-43D4-9FFD-174CEB29FD21}" type="parTrans" cxnId="{21EF5505-B92B-4AC1-827D-7507F8A09E35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57BDAE-0B35-438D-92A6-DDE9563BEE8F}" type="sibTrans" cxnId="{21EF5505-B92B-4AC1-827D-7507F8A09E35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CCA287-E815-4A04-BC24-93444568B5B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Objectives and Contribution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0EFD13-4C98-4CA7-8489-D1414A7D5D82}" type="sibTrans" cxnId="{9C80E958-3ACD-4843-8B10-0B30455ECB65}">
      <dgm:prSet/>
      <dgm:spPr/>
      <dgm:t>
        <a:bodyPr/>
        <a:lstStyle/>
        <a:p>
          <a:endParaRPr lang="en-US"/>
        </a:p>
      </dgm:t>
    </dgm:pt>
    <dgm:pt modelId="{ED0961A8-25B2-413D-8A93-C3B24CFF4D1D}" type="parTrans" cxnId="{9C80E958-3ACD-4843-8B10-0B30455ECB65}">
      <dgm:prSet/>
      <dgm:spPr/>
      <dgm:t>
        <a:bodyPr/>
        <a:lstStyle/>
        <a:p>
          <a:endParaRPr lang="en-US"/>
        </a:p>
      </dgm:t>
    </dgm:pt>
    <dgm:pt modelId="{08D6B79C-57A7-4FBC-8A85-53AA6A98CF9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Research Scope and Literature Review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F954351-10D5-492B-89F1-D5E0494DE2DE}" type="parTrans" cxnId="{5E3E3A60-5F9E-41B8-BF7A-DD89A2E3464E}">
      <dgm:prSet/>
      <dgm:spPr/>
      <dgm:t>
        <a:bodyPr/>
        <a:lstStyle/>
        <a:p>
          <a:endParaRPr lang="en-US"/>
        </a:p>
      </dgm:t>
    </dgm:pt>
    <dgm:pt modelId="{973F352B-AB5E-420D-94F7-A784239916A7}" type="sibTrans" cxnId="{5E3E3A60-5F9E-41B8-BF7A-DD89A2E3464E}">
      <dgm:prSet/>
      <dgm:spPr/>
      <dgm:t>
        <a:bodyPr/>
        <a:lstStyle/>
        <a:p>
          <a:endParaRPr lang="en-US"/>
        </a:p>
      </dgm:t>
    </dgm:pt>
    <dgm:pt modelId="{2664399A-E047-47AB-94B9-AC0DFE11FD2C}" type="pres">
      <dgm:prSet presAssocID="{4EE9B7D0-61A9-4791-85DC-5D660DDD48F1}" presName="root" presStyleCnt="0">
        <dgm:presLayoutVars>
          <dgm:dir/>
          <dgm:resizeHandles val="exact"/>
        </dgm:presLayoutVars>
      </dgm:prSet>
      <dgm:spPr/>
    </dgm:pt>
    <dgm:pt modelId="{56A55EF3-1EA2-4A18-85C7-DBA137CF47BE}" type="pres">
      <dgm:prSet presAssocID="{C2716829-4C6A-4C74-9990-60DEEC411796}" presName="compNode" presStyleCnt="0"/>
      <dgm:spPr/>
    </dgm:pt>
    <dgm:pt modelId="{4CFDA47A-77F5-46CF-B9D4-07E520CFD662}" type="pres">
      <dgm:prSet presAssocID="{C2716829-4C6A-4C74-9990-60DEEC411796}" presName="bgRect" presStyleLbl="bgShp" presStyleIdx="0" presStyleCnt="6"/>
      <dgm:spPr/>
    </dgm:pt>
    <dgm:pt modelId="{4E15DB1C-410B-4A6A-9201-C4EE1C3A6D7C}" type="pres">
      <dgm:prSet presAssocID="{C2716829-4C6A-4C74-9990-60DEEC411796}" presName="iconRect" presStyleLbl="node1" presStyleIdx="0" presStyleCnt="6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88B2C01A-C887-44D3-9A29-DBD876896992}" type="pres">
      <dgm:prSet presAssocID="{C2716829-4C6A-4C74-9990-60DEEC411796}" presName="spaceRect" presStyleCnt="0"/>
      <dgm:spPr/>
    </dgm:pt>
    <dgm:pt modelId="{942ACE10-6522-40B4-99D0-BCF38F1681CF}" type="pres">
      <dgm:prSet presAssocID="{C2716829-4C6A-4C74-9990-60DEEC411796}" presName="parTx" presStyleLbl="revTx" presStyleIdx="0" presStyleCnt="6">
        <dgm:presLayoutVars>
          <dgm:chMax val="0"/>
          <dgm:chPref val="0"/>
        </dgm:presLayoutVars>
      </dgm:prSet>
      <dgm:spPr/>
    </dgm:pt>
    <dgm:pt modelId="{8B0079D2-E1C0-4AA2-BD88-7705C8387F4A}" type="pres">
      <dgm:prSet presAssocID="{F7C5F259-5362-4348-A993-19D2E91765E9}" presName="sibTrans" presStyleCnt="0"/>
      <dgm:spPr/>
    </dgm:pt>
    <dgm:pt modelId="{B59CC7F0-2685-4048-A1E3-42878E9E0FB2}" type="pres">
      <dgm:prSet presAssocID="{A8CCA287-E815-4A04-BC24-93444568B5B3}" presName="compNode" presStyleCnt="0"/>
      <dgm:spPr/>
    </dgm:pt>
    <dgm:pt modelId="{42F1B256-5D76-4A65-8248-131B7074FF25}" type="pres">
      <dgm:prSet presAssocID="{A8CCA287-E815-4A04-BC24-93444568B5B3}" presName="bgRect" presStyleLbl="bgShp" presStyleIdx="1" presStyleCnt="6"/>
      <dgm:spPr/>
    </dgm:pt>
    <dgm:pt modelId="{104F3AA8-DFEE-4CB2-AA8B-9124D87B76D4}" type="pres">
      <dgm:prSet presAssocID="{A8CCA287-E815-4A04-BC24-93444568B5B3}" presName="iconRect" presStyleLbl="node1" presStyleIdx="1" presStyleCnt="6"/>
      <dgm:spPr/>
    </dgm:pt>
    <dgm:pt modelId="{12ABBD4B-5C0B-4877-81CE-000CEB4EF1B0}" type="pres">
      <dgm:prSet presAssocID="{A8CCA287-E815-4A04-BC24-93444568B5B3}" presName="spaceRect" presStyleCnt="0"/>
      <dgm:spPr/>
    </dgm:pt>
    <dgm:pt modelId="{2EFAAB62-F905-412E-A430-0E4D48B05568}" type="pres">
      <dgm:prSet presAssocID="{A8CCA287-E815-4A04-BC24-93444568B5B3}" presName="parTx" presStyleLbl="revTx" presStyleIdx="1" presStyleCnt="6">
        <dgm:presLayoutVars>
          <dgm:chMax val="0"/>
          <dgm:chPref val="0"/>
        </dgm:presLayoutVars>
      </dgm:prSet>
      <dgm:spPr/>
    </dgm:pt>
    <dgm:pt modelId="{AE4F0AC5-A9D3-4018-995F-E70EF07A88D9}" type="pres">
      <dgm:prSet presAssocID="{E40EFD13-4C98-4CA7-8489-D1414A7D5D82}" presName="sibTrans" presStyleCnt="0"/>
      <dgm:spPr/>
    </dgm:pt>
    <dgm:pt modelId="{0E779A0E-34E3-4871-A9DA-72B59CDC2DBE}" type="pres">
      <dgm:prSet presAssocID="{08D6B79C-57A7-4FBC-8A85-53AA6A98CF94}" presName="compNode" presStyleCnt="0"/>
      <dgm:spPr/>
    </dgm:pt>
    <dgm:pt modelId="{4A11740B-F228-4A98-B2F9-81A5F52D7741}" type="pres">
      <dgm:prSet presAssocID="{08D6B79C-57A7-4FBC-8A85-53AA6A98CF94}" presName="bgRect" presStyleLbl="bgShp" presStyleIdx="2" presStyleCnt="6"/>
      <dgm:spPr/>
    </dgm:pt>
    <dgm:pt modelId="{45F21A17-721B-4E44-B854-3C408EDD1BCA}" type="pres">
      <dgm:prSet presAssocID="{08D6B79C-57A7-4FBC-8A85-53AA6A98CF94}" presName="iconRect" presStyleLbl="node1" presStyleIdx="2" presStyleCnt="6"/>
      <dgm:spPr/>
    </dgm:pt>
    <dgm:pt modelId="{7AEDCE75-B8BF-4EE9-9DA2-2E30DD210F15}" type="pres">
      <dgm:prSet presAssocID="{08D6B79C-57A7-4FBC-8A85-53AA6A98CF94}" presName="spaceRect" presStyleCnt="0"/>
      <dgm:spPr/>
    </dgm:pt>
    <dgm:pt modelId="{D54EB964-16E1-411E-9C8A-27010A5F2516}" type="pres">
      <dgm:prSet presAssocID="{08D6B79C-57A7-4FBC-8A85-53AA6A98CF94}" presName="parTx" presStyleLbl="revTx" presStyleIdx="2" presStyleCnt="6">
        <dgm:presLayoutVars>
          <dgm:chMax val="0"/>
          <dgm:chPref val="0"/>
        </dgm:presLayoutVars>
      </dgm:prSet>
      <dgm:spPr/>
    </dgm:pt>
    <dgm:pt modelId="{516E2FC1-0F66-4E8E-9CD0-085722EE7F63}" type="pres">
      <dgm:prSet presAssocID="{973F352B-AB5E-420D-94F7-A784239916A7}" presName="sibTrans" presStyleCnt="0"/>
      <dgm:spPr/>
    </dgm:pt>
    <dgm:pt modelId="{E40BCFA9-5480-4BB5-BCB6-A273699204AA}" type="pres">
      <dgm:prSet presAssocID="{3B7069CC-F4A6-4DCC-8661-B4BDB1681290}" presName="compNode" presStyleCnt="0"/>
      <dgm:spPr/>
    </dgm:pt>
    <dgm:pt modelId="{31DFDACF-02A0-425B-837C-19058BB4569B}" type="pres">
      <dgm:prSet presAssocID="{3B7069CC-F4A6-4DCC-8661-B4BDB1681290}" presName="bgRect" presStyleLbl="bgShp" presStyleIdx="3" presStyleCnt="6"/>
      <dgm:spPr/>
    </dgm:pt>
    <dgm:pt modelId="{A9652CA4-856E-4939-A320-9315823D4AFD}" type="pres">
      <dgm:prSet presAssocID="{3B7069CC-F4A6-4DCC-8661-B4BDB1681290}" presName="iconRect" presStyleLbl="node1" presStyleIdx="3" presStyleCnt="6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F1CF666-C8B1-4CF1-B85A-DE0515BF93B9}" type="pres">
      <dgm:prSet presAssocID="{3B7069CC-F4A6-4DCC-8661-B4BDB1681290}" presName="spaceRect" presStyleCnt="0"/>
      <dgm:spPr/>
    </dgm:pt>
    <dgm:pt modelId="{A151F55C-FD50-404E-B478-D6181D175AE7}" type="pres">
      <dgm:prSet presAssocID="{3B7069CC-F4A6-4DCC-8661-B4BDB1681290}" presName="parTx" presStyleLbl="revTx" presStyleIdx="3" presStyleCnt="6" custLinFactNeighborX="434" custLinFactNeighborY="-13663">
        <dgm:presLayoutVars>
          <dgm:chMax val="0"/>
          <dgm:chPref val="0"/>
        </dgm:presLayoutVars>
      </dgm:prSet>
      <dgm:spPr/>
    </dgm:pt>
    <dgm:pt modelId="{05BA6ACA-7214-489C-90F7-26973756E247}" type="pres">
      <dgm:prSet presAssocID="{72F09E3F-6EAE-4739-ADA9-F873459B8726}" presName="sibTrans" presStyleCnt="0"/>
      <dgm:spPr/>
    </dgm:pt>
    <dgm:pt modelId="{CFAF7D4D-C104-42FC-A8C6-F287CAF68434}" type="pres">
      <dgm:prSet presAssocID="{6791EBB4-EDEF-4697-B28F-0D03F6CAF177}" presName="compNode" presStyleCnt="0"/>
      <dgm:spPr/>
    </dgm:pt>
    <dgm:pt modelId="{CB421E6C-8CAA-47F4-A00E-C1A16F90BB72}" type="pres">
      <dgm:prSet presAssocID="{6791EBB4-EDEF-4697-B28F-0D03F6CAF177}" presName="bgRect" presStyleLbl="bgShp" presStyleIdx="4" presStyleCnt="6"/>
      <dgm:spPr/>
    </dgm:pt>
    <dgm:pt modelId="{3CC34473-C7C3-46A1-8DA6-28CE6904478C}" type="pres">
      <dgm:prSet presAssocID="{6791EBB4-EDEF-4697-B28F-0D03F6CAF177}" presName="iconRect" presStyleLbl="node1" presStyleIdx="4" presStyleCnt="6"/>
      <dgm:spPr/>
    </dgm:pt>
    <dgm:pt modelId="{E1F50C92-95E1-4827-8574-D4EABAEB8CA7}" type="pres">
      <dgm:prSet presAssocID="{6791EBB4-EDEF-4697-B28F-0D03F6CAF177}" presName="spaceRect" presStyleCnt="0"/>
      <dgm:spPr/>
    </dgm:pt>
    <dgm:pt modelId="{37BCC982-C0DC-473C-AF78-1788940452AF}" type="pres">
      <dgm:prSet presAssocID="{6791EBB4-EDEF-4697-B28F-0D03F6CAF177}" presName="parTx" presStyleLbl="revTx" presStyleIdx="4" presStyleCnt="6">
        <dgm:presLayoutVars>
          <dgm:chMax val="0"/>
          <dgm:chPref val="0"/>
        </dgm:presLayoutVars>
      </dgm:prSet>
      <dgm:spPr/>
    </dgm:pt>
    <dgm:pt modelId="{B6D3513B-2E22-4AD6-AA4B-E25231E3559A}" type="pres">
      <dgm:prSet presAssocID="{703FB6E4-CFDE-418A-968E-EDDAAE12890C}" presName="sibTrans" presStyleCnt="0"/>
      <dgm:spPr/>
    </dgm:pt>
    <dgm:pt modelId="{85317B96-FFAE-47DA-8674-BB69187F659A}" type="pres">
      <dgm:prSet presAssocID="{00B7121D-231D-4423-90DA-C22429174053}" presName="compNode" presStyleCnt="0"/>
      <dgm:spPr/>
    </dgm:pt>
    <dgm:pt modelId="{48DF64F6-8398-4B26-9191-59E82C93E805}" type="pres">
      <dgm:prSet presAssocID="{00B7121D-231D-4423-90DA-C22429174053}" presName="bgRect" presStyleLbl="bgShp" presStyleIdx="5" presStyleCnt="6"/>
      <dgm:spPr/>
    </dgm:pt>
    <dgm:pt modelId="{89C2B36B-2A3A-4FE5-8C3E-69B604AC6649}" type="pres">
      <dgm:prSet presAssocID="{00B7121D-231D-4423-90DA-C22429174053}" presName="iconRect" presStyleLbl="node1" presStyleIdx="5" presStyleCnt="6"/>
      <dgm:spPr/>
    </dgm:pt>
    <dgm:pt modelId="{7C97B062-02A5-42D5-B65B-3A2AFF3211B4}" type="pres">
      <dgm:prSet presAssocID="{00B7121D-231D-4423-90DA-C22429174053}" presName="spaceRect" presStyleCnt="0"/>
      <dgm:spPr/>
    </dgm:pt>
    <dgm:pt modelId="{8580DB9C-C2BF-4941-B176-FB8E35D38550}" type="pres">
      <dgm:prSet presAssocID="{00B7121D-231D-4423-90DA-C2242917405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21EF5505-B92B-4AC1-827D-7507F8A09E35}" srcId="{4EE9B7D0-61A9-4791-85DC-5D660DDD48F1}" destId="{00B7121D-231D-4423-90DA-C22429174053}" srcOrd="5" destOrd="0" parTransId="{4BB37717-C8E0-43D4-9FFD-174CEB29FD21}" sibTransId="{AF57BDAE-0B35-438D-92A6-DDE9563BEE8F}"/>
    <dgm:cxn modelId="{A2DE022F-9DBE-4B98-99D9-55F41A02EEDE}" srcId="{4EE9B7D0-61A9-4791-85DC-5D660DDD48F1}" destId="{6791EBB4-EDEF-4697-B28F-0D03F6CAF177}" srcOrd="4" destOrd="0" parTransId="{42B4BBFC-C033-451D-BCA9-B0A9A12186E5}" sibTransId="{703FB6E4-CFDE-418A-968E-EDDAAE12890C}"/>
    <dgm:cxn modelId="{F2F45B5D-EB61-4651-A7DF-B6916DD0E50E}" type="presOf" srcId="{6791EBB4-EDEF-4697-B28F-0D03F6CAF177}" destId="{37BCC982-C0DC-473C-AF78-1788940452AF}" srcOrd="0" destOrd="0" presId="urn:microsoft.com/office/officeart/2018/2/layout/IconVerticalSolidList"/>
    <dgm:cxn modelId="{5E3E3A60-5F9E-41B8-BF7A-DD89A2E3464E}" srcId="{4EE9B7D0-61A9-4791-85DC-5D660DDD48F1}" destId="{08D6B79C-57A7-4FBC-8A85-53AA6A98CF94}" srcOrd="2" destOrd="0" parTransId="{8F954351-10D5-492B-89F1-D5E0494DE2DE}" sibTransId="{973F352B-AB5E-420D-94F7-A784239916A7}"/>
    <dgm:cxn modelId="{9C80E958-3ACD-4843-8B10-0B30455ECB65}" srcId="{4EE9B7D0-61A9-4791-85DC-5D660DDD48F1}" destId="{A8CCA287-E815-4A04-BC24-93444568B5B3}" srcOrd="1" destOrd="0" parTransId="{ED0961A8-25B2-413D-8A93-C3B24CFF4D1D}" sibTransId="{E40EFD13-4C98-4CA7-8489-D1414A7D5D82}"/>
    <dgm:cxn modelId="{73E8817A-B87F-429A-B520-3444EBFFB478}" type="presOf" srcId="{4EE9B7D0-61A9-4791-85DC-5D660DDD48F1}" destId="{2664399A-E047-47AB-94B9-AC0DFE11FD2C}" srcOrd="0" destOrd="0" presId="urn:microsoft.com/office/officeart/2018/2/layout/IconVerticalSolidList"/>
    <dgm:cxn modelId="{93904B9A-2EBE-402A-8AE9-12D7C613BE8D}" type="presOf" srcId="{3B7069CC-F4A6-4DCC-8661-B4BDB1681290}" destId="{A151F55C-FD50-404E-B478-D6181D175AE7}" srcOrd="0" destOrd="0" presId="urn:microsoft.com/office/officeart/2018/2/layout/IconVerticalSolidList"/>
    <dgm:cxn modelId="{A8E75DB3-3AD4-42A4-A30F-05FEAFF4AF85}" srcId="{4EE9B7D0-61A9-4791-85DC-5D660DDD48F1}" destId="{3B7069CC-F4A6-4DCC-8661-B4BDB1681290}" srcOrd="3" destOrd="0" parTransId="{AB0FDF70-FCC5-4F5F-9ACC-7A0E67365622}" sibTransId="{72F09E3F-6EAE-4739-ADA9-F873459B8726}"/>
    <dgm:cxn modelId="{D6501ABA-88ED-4ED4-825D-A50C492A6A2B}" type="presOf" srcId="{A8CCA287-E815-4A04-BC24-93444568B5B3}" destId="{2EFAAB62-F905-412E-A430-0E4D48B05568}" srcOrd="0" destOrd="0" presId="urn:microsoft.com/office/officeart/2018/2/layout/IconVerticalSolidList"/>
    <dgm:cxn modelId="{7B973FDC-3623-45C1-874D-2928DCDB7E47}" type="presOf" srcId="{08D6B79C-57A7-4FBC-8A85-53AA6A98CF94}" destId="{D54EB964-16E1-411E-9C8A-27010A5F2516}" srcOrd="0" destOrd="0" presId="urn:microsoft.com/office/officeart/2018/2/layout/IconVerticalSolidList"/>
    <dgm:cxn modelId="{4B95E0F0-12C9-46AF-9E9A-3014A8D3EF52}" type="presOf" srcId="{00B7121D-231D-4423-90DA-C22429174053}" destId="{8580DB9C-C2BF-4941-B176-FB8E35D38550}" srcOrd="0" destOrd="0" presId="urn:microsoft.com/office/officeart/2018/2/layout/IconVerticalSolidList"/>
    <dgm:cxn modelId="{FBD403FD-7765-4AB2-8BAE-7666B3B7CE70}" type="presOf" srcId="{C2716829-4C6A-4C74-9990-60DEEC411796}" destId="{942ACE10-6522-40B4-99D0-BCF38F1681CF}" srcOrd="0" destOrd="0" presId="urn:microsoft.com/office/officeart/2018/2/layout/IconVerticalSolidList"/>
    <dgm:cxn modelId="{5CCB30FD-D0B4-4344-8CF2-D4BB7F6D428E}" srcId="{4EE9B7D0-61A9-4791-85DC-5D660DDD48F1}" destId="{C2716829-4C6A-4C74-9990-60DEEC411796}" srcOrd="0" destOrd="0" parTransId="{A9DD2791-12E4-4D6B-B01B-CF757B1325B4}" sibTransId="{F7C5F259-5362-4348-A993-19D2E91765E9}"/>
    <dgm:cxn modelId="{216BDF5C-DAAA-4D70-A9AB-4678AD5E151D}" type="presParOf" srcId="{2664399A-E047-47AB-94B9-AC0DFE11FD2C}" destId="{56A55EF3-1EA2-4A18-85C7-DBA137CF47BE}" srcOrd="0" destOrd="0" presId="urn:microsoft.com/office/officeart/2018/2/layout/IconVerticalSolidList"/>
    <dgm:cxn modelId="{FC35C918-41CA-40AE-84E6-35D00B589990}" type="presParOf" srcId="{56A55EF3-1EA2-4A18-85C7-DBA137CF47BE}" destId="{4CFDA47A-77F5-46CF-B9D4-07E520CFD662}" srcOrd="0" destOrd="0" presId="urn:microsoft.com/office/officeart/2018/2/layout/IconVerticalSolidList"/>
    <dgm:cxn modelId="{C7D4032D-9784-4BE1-AEFE-534E9836C8CF}" type="presParOf" srcId="{56A55EF3-1EA2-4A18-85C7-DBA137CF47BE}" destId="{4E15DB1C-410B-4A6A-9201-C4EE1C3A6D7C}" srcOrd="1" destOrd="0" presId="urn:microsoft.com/office/officeart/2018/2/layout/IconVerticalSolidList"/>
    <dgm:cxn modelId="{0B341FE5-B6FC-48F2-B44A-D82D082A21C2}" type="presParOf" srcId="{56A55EF3-1EA2-4A18-85C7-DBA137CF47BE}" destId="{88B2C01A-C887-44D3-9A29-DBD876896992}" srcOrd="2" destOrd="0" presId="urn:microsoft.com/office/officeart/2018/2/layout/IconVerticalSolidList"/>
    <dgm:cxn modelId="{69F42914-1ADC-4603-A305-C8B894D76EC0}" type="presParOf" srcId="{56A55EF3-1EA2-4A18-85C7-DBA137CF47BE}" destId="{942ACE10-6522-40B4-99D0-BCF38F1681CF}" srcOrd="3" destOrd="0" presId="urn:microsoft.com/office/officeart/2018/2/layout/IconVerticalSolidList"/>
    <dgm:cxn modelId="{AE8F7F1B-6B40-4406-A09A-5310C92180D5}" type="presParOf" srcId="{2664399A-E047-47AB-94B9-AC0DFE11FD2C}" destId="{8B0079D2-E1C0-4AA2-BD88-7705C8387F4A}" srcOrd="1" destOrd="0" presId="urn:microsoft.com/office/officeart/2018/2/layout/IconVerticalSolidList"/>
    <dgm:cxn modelId="{409ED8E7-BBC6-40B6-A50C-3F748B9A6D82}" type="presParOf" srcId="{2664399A-E047-47AB-94B9-AC0DFE11FD2C}" destId="{B59CC7F0-2685-4048-A1E3-42878E9E0FB2}" srcOrd="2" destOrd="0" presId="urn:microsoft.com/office/officeart/2018/2/layout/IconVerticalSolidList"/>
    <dgm:cxn modelId="{E1134191-91B5-46F3-BA60-AD6FE9649B41}" type="presParOf" srcId="{B59CC7F0-2685-4048-A1E3-42878E9E0FB2}" destId="{42F1B256-5D76-4A65-8248-131B7074FF25}" srcOrd="0" destOrd="0" presId="urn:microsoft.com/office/officeart/2018/2/layout/IconVerticalSolidList"/>
    <dgm:cxn modelId="{38ED8877-4A2A-41B1-AD2F-ABED8FDA1024}" type="presParOf" srcId="{B59CC7F0-2685-4048-A1E3-42878E9E0FB2}" destId="{104F3AA8-DFEE-4CB2-AA8B-9124D87B76D4}" srcOrd="1" destOrd="0" presId="urn:microsoft.com/office/officeart/2018/2/layout/IconVerticalSolidList"/>
    <dgm:cxn modelId="{2F9D586C-0B27-4F9D-BE13-DE4FF328F635}" type="presParOf" srcId="{B59CC7F0-2685-4048-A1E3-42878E9E0FB2}" destId="{12ABBD4B-5C0B-4877-81CE-000CEB4EF1B0}" srcOrd="2" destOrd="0" presId="urn:microsoft.com/office/officeart/2018/2/layout/IconVerticalSolidList"/>
    <dgm:cxn modelId="{D1AFF97E-3FB4-47EE-9CE5-6347D67A881C}" type="presParOf" srcId="{B59CC7F0-2685-4048-A1E3-42878E9E0FB2}" destId="{2EFAAB62-F905-412E-A430-0E4D48B05568}" srcOrd="3" destOrd="0" presId="urn:microsoft.com/office/officeart/2018/2/layout/IconVerticalSolidList"/>
    <dgm:cxn modelId="{233D5853-3EDB-49BE-A93F-3C76C6F2BF55}" type="presParOf" srcId="{2664399A-E047-47AB-94B9-AC0DFE11FD2C}" destId="{AE4F0AC5-A9D3-4018-995F-E70EF07A88D9}" srcOrd="3" destOrd="0" presId="urn:microsoft.com/office/officeart/2018/2/layout/IconVerticalSolidList"/>
    <dgm:cxn modelId="{EFD3EDEE-38D9-4858-AE63-3BABA970BC46}" type="presParOf" srcId="{2664399A-E047-47AB-94B9-AC0DFE11FD2C}" destId="{0E779A0E-34E3-4871-A9DA-72B59CDC2DBE}" srcOrd="4" destOrd="0" presId="urn:microsoft.com/office/officeart/2018/2/layout/IconVerticalSolidList"/>
    <dgm:cxn modelId="{F18479FB-7300-40C7-ABD3-BAB8416D721D}" type="presParOf" srcId="{0E779A0E-34E3-4871-A9DA-72B59CDC2DBE}" destId="{4A11740B-F228-4A98-B2F9-81A5F52D7741}" srcOrd="0" destOrd="0" presId="urn:microsoft.com/office/officeart/2018/2/layout/IconVerticalSolidList"/>
    <dgm:cxn modelId="{EF8C36A4-AE8D-4041-9E45-AC5DFFE07E24}" type="presParOf" srcId="{0E779A0E-34E3-4871-A9DA-72B59CDC2DBE}" destId="{45F21A17-721B-4E44-B854-3C408EDD1BCA}" srcOrd="1" destOrd="0" presId="urn:microsoft.com/office/officeart/2018/2/layout/IconVerticalSolidList"/>
    <dgm:cxn modelId="{2FF1E4CA-46C9-4362-86D9-ABE28A8D6914}" type="presParOf" srcId="{0E779A0E-34E3-4871-A9DA-72B59CDC2DBE}" destId="{7AEDCE75-B8BF-4EE9-9DA2-2E30DD210F15}" srcOrd="2" destOrd="0" presId="urn:microsoft.com/office/officeart/2018/2/layout/IconVerticalSolidList"/>
    <dgm:cxn modelId="{3FDB1E93-7574-432C-9ACF-C4B131604305}" type="presParOf" srcId="{0E779A0E-34E3-4871-A9DA-72B59CDC2DBE}" destId="{D54EB964-16E1-411E-9C8A-27010A5F2516}" srcOrd="3" destOrd="0" presId="urn:microsoft.com/office/officeart/2018/2/layout/IconVerticalSolidList"/>
    <dgm:cxn modelId="{BF9677F0-ECB0-4B5E-B6D0-348D1FA54FA2}" type="presParOf" srcId="{2664399A-E047-47AB-94B9-AC0DFE11FD2C}" destId="{516E2FC1-0F66-4E8E-9CD0-085722EE7F63}" srcOrd="5" destOrd="0" presId="urn:microsoft.com/office/officeart/2018/2/layout/IconVerticalSolidList"/>
    <dgm:cxn modelId="{75A4847F-6BA3-40D0-85A1-E474D2A8BF42}" type="presParOf" srcId="{2664399A-E047-47AB-94B9-AC0DFE11FD2C}" destId="{E40BCFA9-5480-4BB5-BCB6-A273699204AA}" srcOrd="6" destOrd="0" presId="urn:microsoft.com/office/officeart/2018/2/layout/IconVerticalSolidList"/>
    <dgm:cxn modelId="{F2B3A49A-D374-4756-BA9C-7ABF4D925008}" type="presParOf" srcId="{E40BCFA9-5480-4BB5-BCB6-A273699204AA}" destId="{31DFDACF-02A0-425B-837C-19058BB4569B}" srcOrd="0" destOrd="0" presId="urn:microsoft.com/office/officeart/2018/2/layout/IconVerticalSolidList"/>
    <dgm:cxn modelId="{B4C49B09-BD39-4951-AFEF-70C086D3BA01}" type="presParOf" srcId="{E40BCFA9-5480-4BB5-BCB6-A273699204AA}" destId="{A9652CA4-856E-4939-A320-9315823D4AFD}" srcOrd="1" destOrd="0" presId="urn:microsoft.com/office/officeart/2018/2/layout/IconVerticalSolidList"/>
    <dgm:cxn modelId="{FB8C9BF4-FA08-4B93-9777-E7551A82B53B}" type="presParOf" srcId="{E40BCFA9-5480-4BB5-BCB6-A273699204AA}" destId="{3F1CF666-C8B1-4CF1-B85A-DE0515BF93B9}" srcOrd="2" destOrd="0" presId="urn:microsoft.com/office/officeart/2018/2/layout/IconVerticalSolidList"/>
    <dgm:cxn modelId="{ABFF2F41-4F12-4C06-9613-EE70CAAB6136}" type="presParOf" srcId="{E40BCFA9-5480-4BB5-BCB6-A273699204AA}" destId="{A151F55C-FD50-404E-B478-D6181D175AE7}" srcOrd="3" destOrd="0" presId="urn:microsoft.com/office/officeart/2018/2/layout/IconVerticalSolidList"/>
    <dgm:cxn modelId="{F89F9C0E-AD01-4184-800D-49E3D5CE1DAA}" type="presParOf" srcId="{2664399A-E047-47AB-94B9-AC0DFE11FD2C}" destId="{05BA6ACA-7214-489C-90F7-26973756E247}" srcOrd="7" destOrd="0" presId="urn:microsoft.com/office/officeart/2018/2/layout/IconVerticalSolidList"/>
    <dgm:cxn modelId="{191AF89C-3175-4268-9C15-DD26CEC3FBA4}" type="presParOf" srcId="{2664399A-E047-47AB-94B9-AC0DFE11FD2C}" destId="{CFAF7D4D-C104-42FC-A8C6-F287CAF68434}" srcOrd="8" destOrd="0" presId="urn:microsoft.com/office/officeart/2018/2/layout/IconVerticalSolidList"/>
    <dgm:cxn modelId="{B7EC05B1-B28F-4683-BC3A-4EF0970A8E24}" type="presParOf" srcId="{CFAF7D4D-C104-42FC-A8C6-F287CAF68434}" destId="{CB421E6C-8CAA-47F4-A00E-C1A16F90BB72}" srcOrd="0" destOrd="0" presId="urn:microsoft.com/office/officeart/2018/2/layout/IconVerticalSolidList"/>
    <dgm:cxn modelId="{00751724-C5D5-4179-89E8-F760F2961E7B}" type="presParOf" srcId="{CFAF7D4D-C104-42FC-A8C6-F287CAF68434}" destId="{3CC34473-C7C3-46A1-8DA6-28CE6904478C}" srcOrd="1" destOrd="0" presId="urn:microsoft.com/office/officeart/2018/2/layout/IconVerticalSolidList"/>
    <dgm:cxn modelId="{DEC5E184-66CD-4F52-BEA4-13F393A75C5E}" type="presParOf" srcId="{CFAF7D4D-C104-42FC-A8C6-F287CAF68434}" destId="{E1F50C92-95E1-4827-8574-D4EABAEB8CA7}" srcOrd="2" destOrd="0" presId="urn:microsoft.com/office/officeart/2018/2/layout/IconVerticalSolidList"/>
    <dgm:cxn modelId="{6DCCB768-F3F7-4939-BC36-3FEF84F92E60}" type="presParOf" srcId="{CFAF7D4D-C104-42FC-A8C6-F287CAF68434}" destId="{37BCC982-C0DC-473C-AF78-1788940452AF}" srcOrd="3" destOrd="0" presId="urn:microsoft.com/office/officeart/2018/2/layout/IconVerticalSolidList"/>
    <dgm:cxn modelId="{89BD779B-B3D1-4D74-AF89-D6445B41BA4D}" type="presParOf" srcId="{2664399A-E047-47AB-94B9-AC0DFE11FD2C}" destId="{B6D3513B-2E22-4AD6-AA4B-E25231E3559A}" srcOrd="9" destOrd="0" presId="urn:microsoft.com/office/officeart/2018/2/layout/IconVerticalSolidList"/>
    <dgm:cxn modelId="{838050F7-5EF5-4A49-9961-8B285485DA1B}" type="presParOf" srcId="{2664399A-E047-47AB-94B9-AC0DFE11FD2C}" destId="{85317B96-FFAE-47DA-8674-BB69187F659A}" srcOrd="10" destOrd="0" presId="urn:microsoft.com/office/officeart/2018/2/layout/IconVerticalSolidList"/>
    <dgm:cxn modelId="{8D473066-2B69-4182-A353-980F1AB1658F}" type="presParOf" srcId="{85317B96-FFAE-47DA-8674-BB69187F659A}" destId="{48DF64F6-8398-4B26-9191-59E82C93E805}" srcOrd="0" destOrd="0" presId="urn:microsoft.com/office/officeart/2018/2/layout/IconVerticalSolidList"/>
    <dgm:cxn modelId="{CB82AECC-6415-41DC-BBEA-6DA18AFC035A}" type="presParOf" srcId="{85317B96-FFAE-47DA-8674-BB69187F659A}" destId="{89C2B36B-2A3A-4FE5-8C3E-69B604AC6649}" srcOrd="1" destOrd="0" presId="urn:microsoft.com/office/officeart/2018/2/layout/IconVerticalSolidList"/>
    <dgm:cxn modelId="{9D3FA23E-7208-4DB6-A903-295CA45A13DD}" type="presParOf" srcId="{85317B96-FFAE-47DA-8674-BB69187F659A}" destId="{7C97B062-02A5-42D5-B65B-3A2AFF3211B4}" srcOrd="2" destOrd="0" presId="urn:microsoft.com/office/officeart/2018/2/layout/IconVerticalSolidList"/>
    <dgm:cxn modelId="{E800B653-9BF5-4E8D-B5FB-026056BF988B}" type="presParOf" srcId="{85317B96-FFAE-47DA-8674-BB69187F659A}" destId="{8580DB9C-C2BF-4941-B176-FB8E35D3855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FDA47A-77F5-46CF-B9D4-07E520CFD662}">
      <dsp:nvSpPr>
        <dsp:cNvPr id="0" name=""/>
        <dsp:cNvSpPr/>
      </dsp:nvSpPr>
      <dsp:spPr>
        <a:xfrm>
          <a:off x="0" y="1366"/>
          <a:ext cx="6987897" cy="5820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15DB1C-410B-4A6A-9201-C4EE1C3A6D7C}">
      <dsp:nvSpPr>
        <dsp:cNvPr id="0" name=""/>
        <dsp:cNvSpPr/>
      </dsp:nvSpPr>
      <dsp:spPr>
        <a:xfrm>
          <a:off x="176076" y="132332"/>
          <a:ext cx="320139" cy="320139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2ACE10-6522-40B4-99D0-BCF38F1681CF}">
      <dsp:nvSpPr>
        <dsp:cNvPr id="0" name=""/>
        <dsp:cNvSpPr/>
      </dsp:nvSpPr>
      <dsp:spPr>
        <a:xfrm>
          <a:off x="672292" y="1366"/>
          <a:ext cx="6315604" cy="582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603" tIns="61603" rIns="61603" bIns="6160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Research Gaps and Problem Statement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2292" y="1366"/>
        <a:ext cx="6315604" cy="582071"/>
      </dsp:txXfrm>
    </dsp:sp>
    <dsp:sp modelId="{42F1B256-5D76-4A65-8248-131B7074FF25}">
      <dsp:nvSpPr>
        <dsp:cNvPr id="0" name=""/>
        <dsp:cNvSpPr/>
      </dsp:nvSpPr>
      <dsp:spPr>
        <a:xfrm>
          <a:off x="0" y="728955"/>
          <a:ext cx="6987897" cy="5820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4F3AA8-DFEE-4CB2-AA8B-9124D87B76D4}">
      <dsp:nvSpPr>
        <dsp:cNvPr id="0" name=""/>
        <dsp:cNvSpPr/>
      </dsp:nvSpPr>
      <dsp:spPr>
        <a:xfrm>
          <a:off x="176076" y="859921"/>
          <a:ext cx="320139" cy="3201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FAAB62-F905-412E-A430-0E4D48B05568}">
      <dsp:nvSpPr>
        <dsp:cNvPr id="0" name=""/>
        <dsp:cNvSpPr/>
      </dsp:nvSpPr>
      <dsp:spPr>
        <a:xfrm>
          <a:off x="672292" y="728955"/>
          <a:ext cx="6315604" cy="582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603" tIns="61603" rIns="61603" bIns="6160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Objectives and Contribution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2292" y="728955"/>
        <a:ext cx="6315604" cy="582071"/>
      </dsp:txXfrm>
    </dsp:sp>
    <dsp:sp modelId="{4A11740B-F228-4A98-B2F9-81A5F52D7741}">
      <dsp:nvSpPr>
        <dsp:cNvPr id="0" name=""/>
        <dsp:cNvSpPr/>
      </dsp:nvSpPr>
      <dsp:spPr>
        <a:xfrm>
          <a:off x="0" y="1456544"/>
          <a:ext cx="6987897" cy="5820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F21A17-721B-4E44-B854-3C408EDD1BCA}">
      <dsp:nvSpPr>
        <dsp:cNvPr id="0" name=""/>
        <dsp:cNvSpPr/>
      </dsp:nvSpPr>
      <dsp:spPr>
        <a:xfrm>
          <a:off x="176076" y="1587511"/>
          <a:ext cx="320139" cy="3201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4EB964-16E1-411E-9C8A-27010A5F2516}">
      <dsp:nvSpPr>
        <dsp:cNvPr id="0" name=""/>
        <dsp:cNvSpPr/>
      </dsp:nvSpPr>
      <dsp:spPr>
        <a:xfrm>
          <a:off x="672292" y="1456544"/>
          <a:ext cx="6315604" cy="582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603" tIns="61603" rIns="61603" bIns="6160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Research Scope and Literature Review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2292" y="1456544"/>
        <a:ext cx="6315604" cy="582071"/>
      </dsp:txXfrm>
    </dsp:sp>
    <dsp:sp modelId="{31DFDACF-02A0-425B-837C-19058BB4569B}">
      <dsp:nvSpPr>
        <dsp:cNvPr id="0" name=""/>
        <dsp:cNvSpPr/>
      </dsp:nvSpPr>
      <dsp:spPr>
        <a:xfrm>
          <a:off x="0" y="2184134"/>
          <a:ext cx="6987897" cy="5820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652CA4-856E-4939-A320-9315823D4AFD}">
      <dsp:nvSpPr>
        <dsp:cNvPr id="0" name=""/>
        <dsp:cNvSpPr/>
      </dsp:nvSpPr>
      <dsp:spPr>
        <a:xfrm>
          <a:off x="176076" y="2315100"/>
          <a:ext cx="320139" cy="320139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51F55C-FD50-404E-B478-D6181D175AE7}">
      <dsp:nvSpPr>
        <dsp:cNvPr id="0" name=""/>
        <dsp:cNvSpPr/>
      </dsp:nvSpPr>
      <dsp:spPr>
        <a:xfrm>
          <a:off x="672292" y="2104606"/>
          <a:ext cx="6315604" cy="582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603" tIns="61603" rIns="61603" bIns="6160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Methodology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2292" y="2104606"/>
        <a:ext cx="6315604" cy="582071"/>
      </dsp:txXfrm>
    </dsp:sp>
    <dsp:sp modelId="{CB421E6C-8CAA-47F4-A00E-C1A16F90BB72}">
      <dsp:nvSpPr>
        <dsp:cNvPr id="0" name=""/>
        <dsp:cNvSpPr/>
      </dsp:nvSpPr>
      <dsp:spPr>
        <a:xfrm>
          <a:off x="0" y="2911723"/>
          <a:ext cx="6987897" cy="5820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C34473-C7C3-46A1-8DA6-28CE6904478C}">
      <dsp:nvSpPr>
        <dsp:cNvPr id="0" name=""/>
        <dsp:cNvSpPr/>
      </dsp:nvSpPr>
      <dsp:spPr>
        <a:xfrm>
          <a:off x="176076" y="3042690"/>
          <a:ext cx="320139" cy="3201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BCC982-C0DC-473C-AF78-1788940452AF}">
      <dsp:nvSpPr>
        <dsp:cNvPr id="0" name=""/>
        <dsp:cNvSpPr/>
      </dsp:nvSpPr>
      <dsp:spPr>
        <a:xfrm>
          <a:off x="672292" y="2911723"/>
          <a:ext cx="6315604" cy="582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603" tIns="61603" rIns="61603" bIns="6160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References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2292" y="2911723"/>
        <a:ext cx="6315604" cy="582071"/>
      </dsp:txXfrm>
    </dsp:sp>
    <dsp:sp modelId="{48DF64F6-8398-4B26-9191-59E82C93E805}">
      <dsp:nvSpPr>
        <dsp:cNvPr id="0" name=""/>
        <dsp:cNvSpPr/>
      </dsp:nvSpPr>
      <dsp:spPr>
        <a:xfrm>
          <a:off x="0" y="3639313"/>
          <a:ext cx="6987897" cy="5820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C2B36B-2A3A-4FE5-8C3E-69B604AC6649}">
      <dsp:nvSpPr>
        <dsp:cNvPr id="0" name=""/>
        <dsp:cNvSpPr/>
      </dsp:nvSpPr>
      <dsp:spPr>
        <a:xfrm>
          <a:off x="176076" y="3770279"/>
          <a:ext cx="320139" cy="3201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80DB9C-C2BF-4941-B176-FB8E35D38550}">
      <dsp:nvSpPr>
        <dsp:cNvPr id="0" name=""/>
        <dsp:cNvSpPr/>
      </dsp:nvSpPr>
      <dsp:spPr>
        <a:xfrm>
          <a:off x="672292" y="3639313"/>
          <a:ext cx="6315604" cy="582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603" tIns="61603" rIns="61603" bIns="6160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Publications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2292" y="3639313"/>
        <a:ext cx="6315604" cy="5820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33EDE6-85FE-49CF-988E-680B79F95ADF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617531-5554-4389-A59E-7AA0C0B6A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85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Google Shape;96;g636ac6abd1_1_0:notes">
            <a:extLst>
              <a:ext uri="{FF2B5EF4-FFF2-40B4-BE49-F238E27FC236}">
                <a16:creationId xmlns:a16="http://schemas.microsoft.com/office/drawing/2014/main" id="{B360C002-99A8-CFF4-A156-50AF234E8E7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0243" name="Google Shape;97;g636ac6abd1_1_0:notes">
            <a:extLst>
              <a:ext uri="{FF2B5EF4-FFF2-40B4-BE49-F238E27FC236}">
                <a16:creationId xmlns:a16="http://schemas.microsoft.com/office/drawing/2014/main" id="{5DDBAF8C-702E-6A17-E40E-345B3C1400AE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430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Google Shape;96;g636ac6abd1_1_0:notes">
            <a:extLst>
              <a:ext uri="{FF2B5EF4-FFF2-40B4-BE49-F238E27FC236}">
                <a16:creationId xmlns:a16="http://schemas.microsoft.com/office/drawing/2014/main" id="{B360C002-99A8-CFF4-A156-50AF234E8E7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0243" name="Google Shape;97;g636ac6abd1_1_0:notes">
            <a:extLst>
              <a:ext uri="{FF2B5EF4-FFF2-40B4-BE49-F238E27FC236}">
                <a16:creationId xmlns:a16="http://schemas.microsoft.com/office/drawing/2014/main" id="{5DDBAF8C-702E-6A17-E40E-345B3C1400AE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466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17531-5554-4389-A59E-7AA0C0B6A7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798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17531-5554-4389-A59E-7AA0C0B6A7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49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17531-5554-4389-A59E-7AA0C0B6A7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12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Google Shape;96;g636ac6abd1_1_0:notes">
            <a:extLst>
              <a:ext uri="{FF2B5EF4-FFF2-40B4-BE49-F238E27FC236}">
                <a16:creationId xmlns:a16="http://schemas.microsoft.com/office/drawing/2014/main" id="{C330A909-DA25-E210-9456-DCCBCF66953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headEnd/>
            <a:tailEnd/>
          </a:ln>
        </p:spPr>
      </p:sp>
      <p:sp>
        <p:nvSpPr>
          <p:cNvPr id="65539" name="Google Shape;97;g636ac6abd1_1_0:notes">
            <a:extLst>
              <a:ext uri="{FF2B5EF4-FFF2-40B4-BE49-F238E27FC236}">
                <a16:creationId xmlns:a16="http://schemas.microsoft.com/office/drawing/2014/main" id="{F5A5BFA6-000E-5363-A2C8-2C457B93A320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298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17531-5554-4389-A59E-7AA0C0B6A73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57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79616-D20E-0A98-3B7D-7A36EB269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706DD5-B9C6-CD60-EC67-D2E7E0D82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AF46B-18F7-1059-9236-292B8AF58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7EBF-B333-48E6-B7BF-CEFF5CB77496}" type="datetime1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31837-6F1A-8B0B-9375-592EEB649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EDD9F-518F-FEAE-1BA9-4BD1BFAFF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56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28E7D-9A20-FF2E-9D46-6E922DC35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1DF0-F999-3469-60CC-3BA6C57BA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0D085-5074-6C3A-4BD7-A81C16A6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42A71-3BE8-4FDC-B8FB-432E66687B0F}" type="datetime1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AA3B5-A46A-0AA2-9581-70790B3D3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A0326-E485-556E-343B-D808F646A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971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4CCDF-8E84-5868-E7A3-FDE52D74A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6A0F9-711D-6CD9-43E9-E228A29D8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CF1DD-2222-0BF6-9898-122D4B696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490A-3431-4DD1-A2F5-98B5ED9A8899}" type="datetime1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FC87B-DA17-17BC-17B8-F9B0403C6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9C02C-B1BC-975F-F6A0-957A01141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25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3F497-B7F8-EDF4-33D7-0407049AA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A1995-C92E-A8A0-C35B-396029D52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F6832-E76F-FC0F-BA55-6C79CB088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0DD4E-ED78-B7D2-4128-277774379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A7284-8F24-485A-BAA2-D203C44287CA}" type="datetime1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E6C76-6E81-1B36-0A1B-47A74B0CB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229B4-2AEB-7A97-F81A-5916A8EC0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34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25A6D-5A82-6D51-6784-BD42A646F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A9887-B2C0-EFB3-FD16-C8D4E4A51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4945EC-3428-6C7E-E1F3-DEA170409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AC89FE-8556-C81C-053F-443D90D29C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03D4DD-B499-4BAE-D74E-29FE85463E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C1809D-A7C2-3CC1-CA52-F841F13DE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53761-0DE1-4621-A072-B4D198A1B152}" type="datetime1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48DD1F-FA86-CD60-8693-641CE57E5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B6EFBF-1735-A455-7D59-B4A948F3E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3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C43E1-5EDF-E751-FEAE-83D164B57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FFD30D-1C69-D285-EFAE-285109EB6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E69AE-D928-451A-86CD-C5F2FAFA950E}" type="datetime1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3E1DEE-6729-0614-BC07-3BCBCCA75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DF86FF-DDD5-5ADF-27EA-2132FA731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75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E9DFDB-275D-B3F3-2929-733ED303A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B091-8B3A-44E3-A785-634488555F38}" type="datetime1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619436-97FF-B143-AA5C-557D6E0A3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4DAC8-B5AB-429E-7843-58B5F4AA7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40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2B726-CAD7-2D69-1926-521CB475F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9874E-DE5C-C59A-B8E3-4A4929698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BE820-8CC2-6E29-8C04-34ACA4DCB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1D9BC-D622-212D-2AED-AD468BB7A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417EE-FD5A-4211-A7BC-D3BBD6A3DC09}" type="datetime1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38B73-8ED5-6C7E-F135-AF2D7B4E2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F7A7D8-78C2-FFF5-0135-6EEA184F1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9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7CA5E-40BF-A637-B612-6447CDA2E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4A6898-3FE8-2283-BA7B-3D8A8D34F9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C26FA9-01AC-76C8-E062-8F998677D9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78713-CDEE-ABDD-8115-13887251C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733B0-DF5A-40FD-A036-8DCC5F14A9D2}" type="datetime1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E8EB7D-4E9A-796B-B0FC-7CAAC5F94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10AD2-9517-E376-BFF9-2727A5AF7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702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AD57F-7DCC-01ED-9B4C-E02ED32F7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0CAB7F-F6F1-4F94-901D-2545CA5C0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EB776-BBDF-EA91-A5C8-16C64D83A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3B10E-FD33-425D-92A0-B6BEBB1EB8EA}" type="datetime1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DAC7B-FC96-A9FF-97FD-E521BBB2A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C5129-F021-F284-F65C-B995105C7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43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EE1DF0-8BAF-D09A-FC14-04540CC91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97D86-6CF2-2A33-73DB-A70C84FE57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08516-8826-A2CF-9E39-3D5A498C4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63E46-A956-4FAF-8E11-033B5EBE2101}" type="datetime1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864AF-5386-28CC-939B-6A2D272E1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D145F-22CD-C73C-EDFB-A4A5AF0B9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412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B0193C-D029-1F5C-3E61-5CAB5D38C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082C8-0507-BFF5-E013-8208B5224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D700E-7F1E-72A3-3E2D-B0D043845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974EA-B923-44FB-B88A-0FD76C8869A7}" type="datetime1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14AA5-24C0-5346-D3BE-0A096ECDA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94DCC-FB61-7FE3-A824-38BBE7BFA6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433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CECF0C-48F1-BA81-E267-6EE76E40D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741" y="1466669"/>
            <a:ext cx="11400515" cy="1239989"/>
          </a:xfrm>
        </p:spPr>
        <p:txBody>
          <a:bodyPr anchor="b">
            <a:normAutofit/>
          </a:bodyPr>
          <a:lstStyle/>
          <a:p>
            <a:r>
              <a:rPr lang="en-GB" sz="2000" b="1" i="0" u="none" strike="noStrike" baseline="0" dirty="0">
                <a:latin typeface="Times New Roman" panose="02020603050405020304" pitchFamily="18" charset="0"/>
              </a:rPr>
              <a:t>	</a:t>
            </a:r>
            <a:br>
              <a:rPr lang="en-GB" sz="2300" b="0" i="0" u="none" strike="noStrike" baseline="0" dirty="0">
                <a:latin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</a:rPr>
              <a:t>DRISHTI-Bn: A Parameter-Efficient Multimodal Vision-Language Framework for Simultaneous Flood Damage Classification and Bengali Caption Generation </a:t>
            </a:r>
            <a:endParaRPr lang="en-US" sz="2300" dirty="0"/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16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5A4429-1CB7-9223-1495-4B9614974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64994" y="4031320"/>
            <a:ext cx="6827006" cy="3173385"/>
          </a:xfrm>
          <a:noFill/>
          <a:ln>
            <a:noFill/>
          </a:ln>
        </p:spPr>
        <p:txBody>
          <a:bodyPr anchor="t">
            <a:normAutofit/>
          </a:bodyPr>
          <a:lstStyle/>
          <a:p>
            <a:pPr algn="l">
              <a:buNone/>
            </a:pPr>
            <a:endParaRPr lang="en-US" sz="1600" b="1" i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1600" b="1" i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</a:t>
            </a:r>
            <a:endParaRPr sz="1600" b="0" dirty="0">
              <a:latin typeface="Times New Roman"/>
            </a:endParaRPr>
          </a:p>
          <a:p>
            <a:pPr algn="l"/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Jahid Hasan (ID- 0242310005341038)</a:t>
            </a:r>
          </a:p>
          <a:p>
            <a:pPr algn="l">
              <a:buNone/>
            </a:pPr>
            <a:endParaRPr lang="en-US" sz="1600" b="0" dirty="0">
              <a:latin typeface="Times New Roman"/>
            </a:endParaRPr>
          </a:p>
          <a:p>
            <a:pPr algn="l"/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Md. Fahad Hossain (Senior Lecturer)</a:t>
            </a:r>
          </a:p>
          <a:p>
            <a:pPr algn="l"/>
            <a:r>
              <a:rPr lang="en-US" sz="16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Software Engineering, Daffodil International University</a:t>
            </a:r>
            <a:endParaRPr sz="1600" b="0" dirty="0">
              <a:latin typeface="Times New Roman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diu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91440"/>
            <a:ext cx="18288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946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3;p2">
            <a:extLst>
              <a:ext uri="{FF2B5EF4-FFF2-40B4-BE49-F238E27FC236}">
                <a16:creationId xmlns:a16="http://schemas.microsoft.com/office/drawing/2014/main" id="{3F468634-F093-73E6-0D67-0C55CB62B8E3}"/>
              </a:ext>
            </a:extLst>
          </p:cNvPr>
          <p:cNvSpPr txBox="1">
            <a:spLocks/>
          </p:cNvSpPr>
          <p:nvPr/>
        </p:nvSpPr>
        <p:spPr>
          <a:xfrm>
            <a:off x="1264708" y="371100"/>
            <a:ext cx="9662584" cy="1081617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60933" rIns="121900" bIns="60933"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1" fontAlgn="auto" hangingPunct="1">
              <a:buClr>
                <a:srgbClr val="000000"/>
              </a:buClr>
              <a:buSzPts val="4400"/>
              <a:defRPr/>
            </a:pPr>
            <a:r>
              <a:rPr lang="en-US" sz="4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</a:p>
        </p:txBody>
      </p:sp>
      <p:graphicFrame>
        <p:nvGraphicFramePr>
          <p:cNvPr id="8" name="Google Shape;274;p2">
            <a:extLst>
              <a:ext uri="{FF2B5EF4-FFF2-40B4-BE49-F238E27FC236}">
                <a16:creationId xmlns:a16="http://schemas.microsoft.com/office/drawing/2014/main" id="{5EDD12E7-9E7E-7DE5-68BD-71108405DE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0834932"/>
              </p:ext>
            </p:extLst>
          </p:nvPr>
        </p:nvGraphicFramePr>
        <p:xfrm>
          <a:off x="1368313" y="1742701"/>
          <a:ext cx="6987897" cy="4222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85197-9A25-9DA1-9652-E42DF66C7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diu_logo_convert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0112" y="91440"/>
            <a:ext cx="18288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3;p2">
            <a:extLst>
              <a:ext uri="{FF2B5EF4-FFF2-40B4-BE49-F238E27FC236}">
                <a16:creationId xmlns:a16="http://schemas.microsoft.com/office/drawing/2014/main" id="{3F468634-F093-73E6-0D67-0C55CB62B8E3}"/>
              </a:ext>
            </a:extLst>
          </p:cNvPr>
          <p:cNvSpPr txBox="1">
            <a:spLocks/>
          </p:cNvSpPr>
          <p:nvPr/>
        </p:nvSpPr>
        <p:spPr>
          <a:xfrm>
            <a:off x="502920" y="320040"/>
            <a:ext cx="8488908" cy="1081617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60933" rIns="121900" bIns="60933"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eaLnBrk="1" fontAlgn="auto" hangingPunct="1">
              <a:buClr>
                <a:srgbClr val="000000"/>
              </a:buClr>
              <a:buSzPts val="4400"/>
              <a:defRPr/>
            </a:pPr>
            <a:r>
              <a:rPr lang="en-US" sz="4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85197-9A25-9DA1-9652-E42DF66C7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diu_logo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91440"/>
            <a:ext cx="18288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8160" y="1408627"/>
            <a:ext cx="11155680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har char="▸"/>
            </a:pPr>
            <a:r>
              <a:rPr lang="en-US" sz="2000" dirty="0">
                <a:latin typeface="Times New Roman"/>
              </a:rPr>
              <a:t> </a:t>
            </a:r>
            <a:r>
              <a:rPr sz="2000" dirty="0">
                <a:latin typeface="Times New Roman"/>
              </a:rPr>
              <a:t>~94.42 million Bangladeshis face severe flood risk — 57.5% of the national population</a:t>
            </a:r>
          </a:p>
          <a:p>
            <a:pPr>
              <a:lnSpc>
                <a:spcPct val="150000"/>
              </a:lnSpc>
              <a:buChar char="▸"/>
            </a:pPr>
            <a:r>
              <a:rPr lang="en-US" sz="2000" dirty="0">
                <a:latin typeface="Times New Roman"/>
              </a:rPr>
              <a:t> </a:t>
            </a:r>
            <a:r>
              <a:rPr sz="2000" dirty="0">
                <a:latin typeface="Times New Roman"/>
              </a:rPr>
              <a:t>During disasters, thousands of social media images arrive faster than human teams can assess</a:t>
            </a:r>
          </a:p>
          <a:p>
            <a:pPr>
              <a:lnSpc>
                <a:spcPct val="150000"/>
              </a:lnSpc>
              <a:buChar char="▸"/>
            </a:pPr>
            <a:r>
              <a:rPr lang="en-US" sz="2000" dirty="0">
                <a:latin typeface="Times New Roman"/>
              </a:rPr>
              <a:t> </a:t>
            </a:r>
            <a:r>
              <a:rPr sz="2000" dirty="0">
                <a:latin typeface="Times New Roman"/>
              </a:rPr>
              <a:t>Manual image review is slow, error-prone, and fails under high-volume crisis conditions</a:t>
            </a:r>
          </a:p>
          <a:p>
            <a:pPr>
              <a:lnSpc>
                <a:spcPct val="150000"/>
              </a:lnSpc>
              <a:buChar char="▸"/>
            </a:pPr>
            <a:r>
              <a:rPr lang="en-US" sz="2000" dirty="0">
                <a:latin typeface="Times New Roman"/>
              </a:rPr>
              <a:t> </a:t>
            </a:r>
            <a:r>
              <a:rPr sz="2000" dirty="0">
                <a:latin typeface="Times New Roman"/>
              </a:rPr>
              <a:t>Existing AI models are unimodal — they classify damage but cannot generate descriptive text</a:t>
            </a:r>
          </a:p>
          <a:p>
            <a:pPr>
              <a:lnSpc>
                <a:spcPct val="150000"/>
              </a:lnSpc>
              <a:buChar char="▸"/>
            </a:pPr>
            <a:r>
              <a:rPr lang="en-US" sz="2000" dirty="0">
                <a:latin typeface="Times New Roman"/>
              </a:rPr>
              <a:t> </a:t>
            </a:r>
            <a:r>
              <a:rPr sz="2000" dirty="0">
                <a:latin typeface="Times New Roman"/>
              </a:rPr>
              <a:t>All current systems are English-centric; no system produces native Bengali disaster summaries</a:t>
            </a:r>
          </a:p>
          <a:p>
            <a:pPr>
              <a:lnSpc>
                <a:spcPct val="150000"/>
              </a:lnSpc>
              <a:buChar char="▸"/>
            </a:pPr>
            <a:r>
              <a:rPr lang="en-US" sz="2000" dirty="0">
                <a:latin typeface="Times New Roman"/>
              </a:rPr>
              <a:t> </a:t>
            </a:r>
            <a:r>
              <a:rPr sz="2000" dirty="0">
                <a:latin typeface="Times New Roman"/>
              </a:rPr>
              <a:t>Large vision-language models require billions of parameters — undeployable in local emergency centers with limited GPU resources</a:t>
            </a:r>
          </a:p>
          <a:p>
            <a:pPr>
              <a:lnSpc>
                <a:spcPct val="150000"/>
              </a:lnSpc>
              <a:buChar char="▸"/>
            </a:pPr>
            <a:r>
              <a:rPr lang="en-US" sz="2000" dirty="0">
                <a:latin typeface="Times New Roman"/>
              </a:rPr>
              <a:t> </a:t>
            </a:r>
            <a:r>
              <a:rPr sz="2000" dirty="0">
                <a:latin typeface="Times New Roman"/>
              </a:rPr>
              <a:t>No multimodal, Bengali-capable, hardware-efficient AI system exists for flood disaster response in Bangladesh</a:t>
            </a:r>
          </a:p>
        </p:txBody>
      </p:sp>
    </p:spTree>
    <p:extLst>
      <p:ext uri="{BB962C8B-B14F-4D97-AF65-F5344CB8AC3E}">
        <p14:creationId xmlns:p14="http://schemas.microsoft.com/office/powerpoint/2010/main" val="983915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21C67-D08A-FE70-7312-A80EE5164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737" y="408025"/>
            <a:ext cx="8483991" cy="718087"/>
          </a:xfrm>
        </p:spPr>
        <p:txBody>
          <a:bodyPr/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38B34-69C8-51EB-7100-DE53FD49B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737" y="1592827"/>
            <a:ext cx="10392321" cy="4058166"/>
          </a:xfrm>
        </p:spPr>
        <p:txBody>
          <a:bodyPr wrap="square">
            <a:normAutofit/>
          </a:bodyPr>
          <a:lstStyle/>
          <a:p>
            <a:pPr marL="342900" marR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sz="2000" dirty="0">
                <a:latin typeface="Times New Roman"/>
              </a:rPr>
              <a:t>Curate a domain-specific Bengali flood corpus by filtering </a:t>
            </a:r>
            <a:r>
              <a:rPr sz="2000" dirty="0" err="1">
                <a:latin typeface="Times New Roman"/>
              </a:rPr>
              <a:t>CrisisMMD</a:t>
            </a:r>
            <a:r>
              <a:rPr sz="2000" dirty="0">
                <a:latin typeface="Times New Roman"/>
              </a:rPr>
              <a:t> (3,755 samples) and generating verified Bengali annotations</a:t>
            </a:r>
            <a:endParaRPr lang="en-US" sz="2000" dirty="0">
              <a:latin typeface="Times New Roman"/>
            </a:endParaRP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"/>
            </a:pPr>
            <a:r>
              <a:rPr lang="en-US" sz="2000" dirty="0">
                <a:latin typeface="Times New Roman"/>
              </a:rPr>
              <a:t>Design DRISHTI-Bn: a joint vision-language architecture uniting </a:t>
            </a:r>
            <a:r>
              <a:rPr lang="en-US" sz="2000" dirty="0" err="1">
                <a:latin typeface="Times New Roman"/>
              </a:rPr>
              <a:t>ViT</a:t>
            </a:r>
            <a:r>
              <a:rPr lang="en-US" sz="2000" dirty="0">
                <a:latin typeface="Times New Roman"/>
              </a:rPr>
              <a:t>-Base/16 (visual encoder) with </a:t>
            </a:r>
            <a:r>
              <a:rPr lang="en-US" sz="2000" dirty="0" err="1">
                <a:latin typeface="Times New Roman"/>
              </a:rPr>
              <a:t>BanglaBERT</a:t>
            </a:r>
            <a:r>
              <a:rPr lang="en-US" sz="2000" dirty="0">
                <a:latin typeface="Times New Roman"/>
              </a:rPr>
              <a:t> (autoregressive decoder)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"/>
            </a:pPr>
            <a:r>
              <a:rPr lang="en-US" sz="2000" dirty="0">
                <a:latin typeface="Times New Roman"/>
              </a:rPr>
              <a:t>Implement </a:t>
            </a:r>
            <a:r>
              <a:rPr lang="en-US" sz="2000" dirty="0" err="1">
                <a:latin typeface="Times New Roman"/>
              </a:rPr>
              <a:t>LoRA</a:t>
            </a:r>
            <a:r>
              <a:rPr lang="en-US" sz="2000" dirty="0">
                <a:latin typeface="Times New Roman"/>
              </a:rPr>
              <a:t> (Rank=8) inside attention layers of both encoders to enable training within a single 16GB GPU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"/>
            </a:pPr>
            <a:r>
              <a:rPr lang="en-US" sz="2000" dirty="0">
                <a:latin typeface="Times New Roman"/>
              </a:rPr>
              <a:t>Optimize a multi-task loss: </a:t>
            </a:r>
            <a:r>
              <a:rPr lang="en-US" sz="2000" dirty="0" err="1">
                <a:latin typeface="Times New Roman"/>
              </a:rPr>
              <a:t>L_total</a:t>
            </a:r>
            <a:r>
              <a:rPr lang="en-US" sz="2000" dirty="0">
                <a:latin typeface="Times New Roman"/>
              </a:rPr>
              <a:t> = </a:t>
            </a:r>
            <a:r>
              <a:rPr lang="en-US" sz="2000" dirty="0" err="1">
                <a:latin typeface="Times New Roman"/>
              </a:rPr>
              <a:t>λ_cls</a:t>
            </a:r>
            <a:r>
              <a:rPr lang="en-US" sz="2000" dirty="0">
                <a:latin typeface="Times New Roman"/>
              </a:rPr>
              <a:t> · </a:t>
            </a:r>
            <a:r>
              <a:rPr lang="en-US" sz="2000" dirty="0" err="1">
                <a:latin typeface="Times New Roman"/>
              </a:rPr>
              <a:t>L_cls</a:t>
            </a:r>
            <a:r>
              <a:rPr lang="en-US" sz="2000" dirty="0">
                <a:latin typeface="Times New Roman"/>
              </a:rPr>
              <a:t> + </a:t>
            </a:r>
            <a:r>
              <a:rPr lang="en-US" sz="2000" dirty="0" err="1">
                <a:latin typeface="Times New Roman"/>
              </a:rPr>
              <a:t>λ_cap</a:t>
            </a:r>
            <a:r>
              <a:rPr lang="en-US" sz="2000" dirty="0">
                <a:latin typeface="Times New Roman"/>
              </a:rPr>
              <a:t> · </a:t>
            </a:r>
            <a:r>
              <a:rPr lang="en-US" sz="2000" dirty="0" err="1">
                <a:latin typeface="Times New Roman"/>
              </a:rPr>
              <a:t>L_cap</a:t>
            </a:r>
            <a:r>
              <a:rPr lang="en-US" sz="2000" dirty="0">
                <a:latin typeface="Times New Roman"/>
              </a:rPr>
              <a:t> for simultaneous classification and Bengali caption generation</a:t>
            </a:r>
          </a:p>
          <a:p>
            <a:pPr marL="342900" marR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endParaRPr sz="2000" dirty="0">
              <a:latin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2AF38-3D20-6798-8882-8A802B54B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 descr="diu_logo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91440"/>
            <a:ext cx="18288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300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21C67-D08A-FE70-7312-A80EE5164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737" y="408025"/>
            <a:ext cx="8483991" cy="718087"/>
          </a:xfrm>
        </p:spPr>
        <p:txBody>
          <a:bodyPr/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38B34-69C8-51EB-7100-DE53FD49B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737" y="1483893"/>
            <a:ext cx="10392321" cy="4514676"/>
          </a:xfrm>
        </p:spPr>
        <p:txBody>
          <a:bodyPr wrap="square">
            <a:normAutofit/>
          </a:bodyPr>
          <a:lstStyle/>
          <a:p>
            <a:pPr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800" b="1" dirty="0">
                <a:latin typeface="Times New Roman"/>
              </a:rPr>
              <a:t> </a:t>
            </a:r>
            <a:r>
              <a:rPr sz="1800" b="1" dirty="0">
                <a:latin typeface="Times New Roman"/>
              </a:rPr>
              <a:t>Gap 1: Unimodal Systems Only</a:t>
            </a:r>
          </a:p>
          <a:p>
            <a:pPr lvl="1">
              <a:lnSpc>
                <a:spcPct val="150000"/>
              </a:lnSpc>
              <a:buChar char="→"/>
            </a:pPr>
            <a:r>
              <a:rPr sz="1800" b="0" dirty="0">
                <a:latin typeface="Times New Roman"/>
              </a:rPr>
              <a:t>CNN/</a:t>
            </a:r>
            <a:r>
              <a:rPr sz="1800" b="0" dirty="0" err="1">
                <a:latin typeface="Times New Roman"/>
              </a:rPr>
              <a:t>ViT</a:t>
            </a:r>
            <a:r>
              <a:rPr sz="1800" b="0" dirty="0">
                <a:latin typeface="Times New Roman"/>
              </a:rPr>
              <a:t> models classify damage but cannot generate descriptive text — no generative output exists</a:t>
            </a:r>
            <a:endParaRPr lang="en-US" sz="1800" b="1" dirty="0">
              <a:latin typeface="Times New Roman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latin typeface="Times New Roman"/>
              </a:rPr>
              <a:t> </a:t>
            </a:r>
            <a:r>
              <a:rPr sz="1800" b="1" dirty="0">
                <a:latin typeface="Times New Roman"/>
              </a:rPr>
              <a:t>Gap 2: English-Centric Bias</a:t>
            </a:r>
          </a:p>
          <a:p>
            <a:pPr lvl="1">
              <a:lnSpc>
                <a:spcPct val="150000"/>
              </a:lnSpc>
              <a:buChar char="→"/>
            </a:pPr>
            <a:r>
              <a:rPr sz="1800" b="0" dirty="0">
                <a:latin typeface="Times New Roman"/>
              </a:rPr>
              <a:t>All existing VLMs are trained on English corpora; zero Bengali multimodal disaster system exists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latin typeface="Times New Roman"/>
              </a:rPr>
              <a:t> </a:t>
            </a:r>
            <a:r>
              <a:rPr sz="1800" b="1" dirty="0">
                <a:latin typeface="Times New Roman"/>
              </a:rPr>
              <a:t>Gap 3: No Bengali Annotated Disaster Dataset</a:t>
            </a:r>
          </a:p>
          <a:p>
            <a:pPr lvl="1">
              <a:lnSpc>
                <a:spcPct val="150000"/>
              </a:lnSpc>
              <a:buChar char="→"/>
            </a:pPr>
            <a:r>
              <a:rPr sz="1800" b="0" dirty="0">
                <a:latin typeface="Times New Roman"/>
              </a:rPr>
              <a:t>No multimodal flood dataset with Bengali captions is publicly available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latin typeface="Times New Roman"/>
              </a:rPr>
              <a:t> </a:t>
            </a:r>
            <a:r>
              <a:rPr sz="1800" b="1" dirty="0">
                <a:latin typeface="Times New Roman"/>
              </a:rPr>
              <a:t>Gap 4: Prohibitive Computational Cost</a:t>
            </a:r>
          </a:p>
          <a:p>
            <a:pPr lvl="1">
              <a:lnSpc>
                <a:spcPct val="150000"/>
              </a:lnSpc>
              <a:buChar char="→"/>
            </a:pPr>
            <a:r>
              <a:rPr sz="1800" b="0" dirty="0">
                <a:latin typeface="Times New Roman"/>
              </a:rPr>
              <a:t>Full fine-tuning of VLMs requires 80GB+ VRAM — impossible for regional emergency centers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latin typeface="Times New Roman"/>
              </a:rPr>
              <a:t> </a:t>
            </a:r>
            <a:r>
              <a:rPr sz="1800" b="1" dirty="0">
                <a:latin typeface="Times New Roman"/>
              </a:rPr>
              <a:t>DRISHTI-Bn addresses ALL four gaps simultaneously</a:t>
            </a:r>
            <a:endParaRPr lang="en-US" sz="1800" b="1" dirty="0">
              <a:latin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2AF38-3D20-6798-8882-8A802B54B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 descr="diu_logo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91440"/>
            <a:ext cx="18288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3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21C67-D08A-FE70-7312-A80EE5164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737" y="408025"/>
            <a:ext cx="8483991" cy="718087"/>
          </a:xfrm>
        </p:spPr>
        <p:txBody>
          <a:bodyPr/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2AF38-3D20-6798-8882-8A802B54B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 descr="diu_logo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91440"/>
            <a:ext cx="1828800" cy="9144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260A8F-BCF0-EC2A-0C64-646F37E242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977015"/>
              </p:ext>
            </p:extLst>
          </p:nvPr>
        </p:nvGraphicFramePr>
        <p:xfrm>
          <a:off x="636439" y="1527664"/>
          <a:ext cx="10810815" cy="43382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3605">
                  <a:extLst>
                    <a:ext uri="{9D8B030D-6E8A-4147-A177-3AD203B41FA5}">
                      <a16:colId xmlns:a16="http://schemas.microsoft.com/office/drawing/2014/main" val="1732516410"/>
                    </a:ext>
                  </a:extLst>
                </a:gridCol>
                <a:gridCol w="3603605">
                  <a:extLst>
                    <a:ext uri="{9D8B030D-6E8A-4147-A177-3AD203B41FA5}">
                      <a16:colId xmlns:a16="http://schemas.microsoft.com/office/drawing/2014/main" val="1609720603"/>
                    </a:ext>
                  </a:extLst>
                </a:gridCol>
                <a:gridCol w="3603605">
                  <a:extLst>
                    <a:ext uri="{9D8B030D-6E8A-4147-A177-3AD203B41FA5}">
                      <a16:colId xmlns:a16="http://schemas.microsoft.com/office/drawing/2014/main" val="982349580"/>
                    </a:ext>
                  </a:extLst>
                </a:gridCol>
              </a:tblGrid>
              <a:tr h="442312">
                <a:tc>
                  <a:txBody>
                    <a:bodyPr/>
                    <a:lstStyle/>
                    <a:p>
                      <a:r>
                        <a:rPr lang="en-US" sz="1600" b="1" dirty="0"/>
                        <a:t>Model / System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Performance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Key Limitation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127311"/>
                  </a:ext>
                </a:extLst>
              </a:tr>
              <a:tr h="690735">
                <a:tc>
                  <a:txBody>
                    <a:bodyPr/>
                    <a:lstStyle/>
                    <a:p>
                      <a:r>
                        <a:rPr lang="en-US" sz="1600" dirty="0"/>
                        <a:t>CNN Era (ResNet50, ResNet101, VGG16)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66.85-79.55% Acc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 global context; no text generation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316597"/>
                  </a:ext>
                </a:extLst>
              </a:tr>
              <a:tr h="690735">
                <a:tc>
                  <a:txBody>
                    <a:bodyPr/>
                    <a:lstStyle/>
                    <a:p>
                      <a:r>
                        <a:rPr lang="en-US" sz="1600" dirty="0"/>
                        <a:t>Vision Transformer - </a:t>
                      </a:r>
                      <a:r>
                        <a:rPr lang="en-US" sz="1600" dirty="0" err="1"/>
                        <a:t>ViT</a:t>
                      </a:r>
                      <a:r>
                        <a:rPr lang="en-US" sz="1600" dirty="0"/>
                        <a:t> Baseline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81.82% Acc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Unimodal; no language decoder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460796"/>
                  </a:ext>
                </a:extLst>
              </a:tr>
              <a:tr h="690735">
                <a:tc>
                  <a:txBody>
                    <a:bodyPr/>
                    <a:lstStyle/>
                    <a:p>
                      <a:r>
                        <a:rPr lang="en-US" sz="1600" dirty="0" err="1"/>
                        <a:t>CrisisViT</a:t>
                      </a:r>
                      <a:r>
                        <a:rPr lang="en-US" sz="1600" dirty="0"/>
                        <a:t> (Domain-specific </a:t>
                      </a:r>
                      <a:r>
                        <a:rPr lang="en-US" sz="1600" dirty="0" err="1"/>
                        <a:t>ViT</a:t>
                      </a:r>
                      <a:r>
                        <a:rPr lang="en-US" sz="1600" dirty="0"/>
                        <a:t>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83.07% Acc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English-only; no Bengali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324909"/>
                  </a:ext>
                </a:extLst>
              </a:tr>
              <a:tr h="690735">
                <a:tc>
                  <a:txBody>
                    <a:bodyPr/>
                    <a:lstStyle/>
                    <a:p>
                      <a:r>
                        <a:rPr lang="en-US" sz="1600" dirty="0"/>
                        <a:t>Multilingual VLMs (CLIP, BLIP)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High (English)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English-centric; needs 80GB+ GPU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775420"/>
                  </a:ext>
                </a:extLst>
              </a:tr>
              <a:tr h="442312">
                <a:tc>
                  <a:txBody>
                    <a:bodyPr/>
                    <a:lstStyle/>
                    <a:p>
                      <a:r>
                        <a:rPr lang="en-US" sz="1600" dirty="0" err="1"/>
                        <a:t>BanglaBERT</a:t>
                      </a:r>
                      <a:r>
                        <a:rPr lang="en-US" sz="1600" dirty="0"/>
                        <a:t> (NLP only)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Superior Bengali NLU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Text-only; not disaster-specific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999809"/>
                  </a:ext>
                </a:extLst>
              </a:tr>
              <a:tr h="690735">
                <a:tc>
                  <a:txBody>
                    <a:bodyPr/>
                    <a:lstStyle/>
                    <a:p>
                      <a:r>
                        <a:rPr lang="en-US" sz="1600" b="1" dirty="0"/>
                        <a:t>DRISHTI-Bn [PROPOSED] 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Ongoing (To be evaluated)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Addresses above limitations (Multimodal + Bengali + </a:t>
                      </a:r>
                      <a:r>
                        <a:rPr lang="en-US" sz="1600" b="1" dirty="0" err="1"/>
                        <a:t>LoRA</a:t>
                      </a:r>
                      <a:r>
                        <a:rPr lang="en-US" sz="1600" b="1" dirty="0"/>
                        <a:t>)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3677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6184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21C67-D08A-FE70-7312-A80EE5164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542" y="334695"/>
            <a:ext cx="8483991" cy="872832"/>
          </a:xfrm>
        </p:spPr>
        <p:txBody>
          <a:bodyPr>
            <a:normAutofit/>
          </a:bodyPr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8CCA3-3DCF-E203-C497-CD7584D61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A1AF83-2114-8615-2648-73926F4AF42D}"/>
              </a:ext>
            </a:extLst>
          </p:cNvPr>
          <p:cNvSpPr txBox="1"/>
          <p:nvPr/>
        </p:nvSpPr>
        <p:spPr>
          <a:xfrm>
            <a:off x="493542" y="1551201"/>
            <a:ext cx="9550104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"/>
              <a:tabLst/>
              <a:defRPr/>
            </a:pPr>
            <a:endParaRPr/>
          </a:p>
        </p:txBody>
      </p:sp>
      <p:pic>
        <p:nvPicPr>
          <p:cNvPr id="9" name="Picture 8" descr="diu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91440"/>
            <a:ext cx="1828800" cy="914400"/>
          </a:xfrm>
          <a:prstGeom prst="rect">
            <a:avLst/>
          </a:prstGeom>
        </p:spPr>
      </p:pic>
      <p:pic>
        <p:nvPicPr>
          <p:cNvPr id="10" name="Picture 9" descr="figure_3_1_architecture.png"/>
          <p:cNvPicPr>
            <a:picLocks noChangeAspect="1"/>
          </p:cNvPicPr>
          <p:nvPr/>
        </p:nvPicPr>
        <p:blipFill>
          <a:blip r:embed="rId3"/>
          <a:srcRect t="7692"/>
          <a:stretch>
            <a:fillRect/>
          </a:stretch>
        </p:blipFill>
        <p:spPr>
          <a:xfrm>
            <a:off x="365760" y="1783080"/>
            <a:ext cx="11338560" cy="4389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1391677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dirty="0" err="1">
                <a:latin typeface="Times New Roman"/>
              </a:rPr>
              <a:t>ViT</a:t>
            </a:r>
            <a:r>
              <a:rPr sz="1300" b="0" dirty="0">
                <a:latin typeface="Times New Roman"/>
              </a:rPr>
              <a:t>-Base/16  →  Patch Embeddings  →  Cross-Attention  →  </a:t>
            </a:r>
            <a:r>
              <a:rPr sz="1300" b="0" dirty="0" err="1">
                <a:latin typeface="Times New Roman"/>
              </a:rPr>
              <a:t>BanglaBERT</a:t>
            </a:r>
            <a:r>
              <a:rPr sz="1300" b="0" dirty="0">
                <a:latin typeface="Times New Roman"/>
              </a:rPr>
              <a:t> Decoder  →  [Classification + Bengali Caption]  |  Optimized with </a:t>
            </a:r>
            <a:r>
              <a:rPr sz="1300" b="0" dirty="0" err="1">
                <a:latin typeface="Times New Roman"/>
              </a:rPr>
              <a:t>LoRA</a:t>
            </a:r>
            <a:r>
              <a:rPr sz="1300" b="0" dirty="0">
                <a:latin typeface="Times New Roman"/>
              </a:rPr>
              <a:t> (r=8)</a:t>
            </a:r>
          </a:p>
        </p:txBody>
      </p:sp>
    </p:spTree>
    <p:extLst>
      <p:ext uri="{BB962C8B-B14F-4D97-AF65-F5344CB8AC3E}">
        <p14:creationId xmlns:p14="http://schemas.microsoft.com/office/powerpoint/2010/main" val="1775107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74;p2">
            <a:extLst>
              <a:ext uri="{FF2B5EF4-FFF2-40B4-BE49-F238E27FC236}">
                <a16:creationId xmlns:a16="http://schemas.microsoft.com/office/drawing/2014/main" id="{205226F9-8554-0A0F-CC48-F2507E191318}"/>
              </a:ext>
            </a:extLst>
          </p:cNvPr>
          <p:cNvSpPr txBox="1">
            <a:spLocks/>
          </p:cNvSpPr>
          <p:nvPr/>
        </p:nvSpPr>
        <p:spPr>
          <a:xfrm>
            <a:off x="914399" y="1517562"/>
            <a:ext cx="9996407" cy="4671466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60933" rIns="121900" bIns="60933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  <a:tabLst>
                <a:tab pos="-982955" algn="l"/>
                <a:tab pos="-609585" algn="l"/>
                <a:tab pos="0" algn="l"/>
                <a:tab pos="237061" algn="l"/>
                <a:tab pos="1219170" algn="l"/>
              </a:tabLst>
              <a:defRPr/>
            </a:pPr>
            <a:r>
              <a:rPr lang="en-US" sz="1600" dirty="0">
                <a:latin typeface="Times New Roman"/>
              </a:rPr>
              <a:t>   </a:t>
            </a:r>
            <a:r>
              <a:rPr sz="1600" dirty="0">
                <a:latin typeface="Times New Roman"/>
              </a:rPr>
              <a:t>[1] Alam et al. (2021). </a:t>
            </a:r>
            <a:r>
              <a:rPr sz="1600" dirty="0" err="1">
                <a:latin typeface="Times New Roman"/>
              </a:rPr>
              <a:t>CrisisMMD</a:t>
            </a:r>
            <a:r>
              <a:rPr sz="1600" dirty="0">
                <a:latin typeface="Times New Roman"/>
              </a:rPr>
              <a:t>: Multimodal Twitter Datasets from Natural Disasters. ICWSM.</a:t>
            </a:r>
            <a:endParaRPr lang="en-GB" sz="18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sz="1600" dirty="0">
                <a:latin typeface="Times New Roman"/>
              </a:rPr>
              <a:t>[2] </a:t>
            </a:r>
            <a:r>
              <a:rPr sz="1600" dirty="0" err="1">
                <a:latin typeface="Times New Roman"/>
              </a:rPr>
              <a:t>Dosovitskiy</a:t>
            </a:r>
            <a:r>
              <a:rPr sz="1600" dirty="0">
                <a:latin typeface="Times New Roman"/>
              </a:rPr>
              <a:t> et al. (2020). An Image is Worth 16x16 Words: Transformers for Image Recognition. ICLR.</a:t>
            </a:r>
          </a:p>
          <a:p>
            <a:pPr>
              <a:lnSpc>
                <a:spcPct val="150000"/>
              </a:lnSpc>
              <a:buNone/>
            </a:pPr>
            <a:r>
              <a:rPr sz="1600" dirty="0">
                <a:latin typeface="Times New Roman"/>
              </a:rPr>
              <a:t>[3] Hu et al. (2021). </a:t>
            </a:r>
            <a:r>
              <a:rPr sz="1600" dirty="0" err="1">
                <a:latin typeface="Times New Roman"/>
              </a:rPr>
              <a:t>LoRA</a:t>
            </a:r>
            <a:r>
              <a:rPr sz="1600" dirty="0">
                <a:latin typeface="Times New Roman"/>
              </a:rPr>
              <a:t>: Low-Rank Adaptation of Large Language Models. ICLR 2022.</a:t>
            </a:r>
          </a:p>
          <a:p>
            <a:pPr>
              <a:lnSpc>
                <a:spcPct val="150000"/>
              </a:lnSpc>
              <a:buNone/>
            </a:pPr>
            <a:r>
              <a:rPr sz="1600" dirty="0">
                <a:latin typeface="Times New Roman"/>
              </a:rPr>
              <a:t>[4] Bhattacharjee et al. (2022). </a:t>
            </a:r>
            <a:r>
              <a:rPr sz="1600" dirty="0" err="1">
                <a:latin typeface="Times New Roman"/>
              </a:rPr>
              <a:t>BanglaBERT</a:t>
            </a:r>
            <a:r>
              <a:rPr sz="1600" dirty="0">
                <a:latin typeface="Times New Roman"/>
              </a:rPr>
              <a:t>: Language Model Pretraining and Benchmarks. ACL Findings.</a:t>
            </a:r>
          </a:p>
          <a:p>
            <a:pPr>
              <a:lnSpc>
                <a:spcPct val="150000"/>
              </a:lnSpc>
              <a:buNone/>
            </a:pPr>
            <a:r>
              <a:rPr sz="1600" dirty="0">
                <a:latin typeface="Times New Roman"/>
              </a:rPr>
              <a:t>[5] Long et al. (2023). </a:t>
            </a:r>
            <a:r>
              <a:rPr sz="1600" dirty="0" err="1">
                <a:latin typeface="Times New Roman"/>
              </a:rPr>
              <a:t>CrisisViT</a:t>
            </a:r>
            <a:r>
              <a:rPr sz="1600" dirty="0">
                <a:latin typeface="Times New Roman"/>
              </a:rPr>
              <a:t>: A Robust Vision Transformer for Crisis Image Classification. EMNLP.</a:t>
            </a:r>
          </a:p>
          <a:p>
            <a:pPr>
              <a:lnSpc>
                <a:spcPct val="150000"/>
              </a:lnSpc>
              <a:buNone/>
            </a:pPr>
            <a:r>
              <a:rPr sz="1600" dirty="0">
                <a:latin typeface="Times New Roman"/>
              </a:rPr>
              <a:t>[6] He et al. (2016). Deep Residual Learning for Image Recognition. CVPR.</a:t>
            </a:r>
          </a:p>
          <a:p>
            <a:pPr>
              <a:lnSpc>
                <a:spcPct val="150000"/>
              </a:lnSpc>
              <a:buNone/>
            </a:pPr>
            <a:r>
              <a:rPr sz="1600" dirty="0">
                <a:latin typeface="Times New Roman"/>
              </a:rPr>
              <a:t>[7] Li &amp; Liang (2021). Prefix-Tuning: Optimizing Continuous Prompts for Generation. ACL.</a:t>
            </a:r>
          </a:p>
        </p:txBody>
      </p:sp>
      <p:sp>
        <p:nvSpPr>
          <p:cNvPr id="5" name="Google Shape;273;p2">
            <a:extLst>
              <a:ext uri="{FF2B5EF4-FFF2-40B4-BE49-F238E27FC236}">
                <a16:creationId xmlns:a16="http://schemas.microsoft.com/office/drawing/2014/main" id="{71B90E51-83E6-7F60-B986-E9B26EF94F5C}"/>
              </a:ext>
            </a:extLst>
          </p:cNvPr>
          <p:cNvSpPr txBox="1">
            <a:spLocks/>
          </p:cNvSpPr>
          <p:nvPr/>
        </p:nvSpPr>
        <p:spPr>
          <a:xfrm>
            <a:off x="914399" y="668972"/>
            <a:ext cx="3985683" cy="676322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60933" rIns="121900" bIns="60933"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1" fontAlgn="auto" hangingPunct="1">
              <a:buClr>
                <a:srgbClr val="000000"/>
              </a:buClr>
              <a:buSzPts val="4400"/>
              <a:defRPr/>
            </a:pPr>
            <a:r>
              <a:rPr lang="en-US" sz="4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54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601971-7FF3-D561-8094-2D64A8873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8827" y="6492875"/>
            <a:ext cx="2743200" cy="365125"/>
          </a:xfrm>
        </p:spPr>
        <p:txBody>
          <a:bodyPr/>
          <a:lstStyle/>
          <a:p>
            <a:fld id="{7924545A-7355-4AC1-B5F8-96DB118A62F5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 descr="diu_logo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91440"/>
            <a:ext cx="18288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907C95-EC48-A585-8AF2-D3EE3A16E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670218"/>
            <a:ext cx="10909640" cy="1065836"/>
          </a:xfrm>
        </p:spPr>
        <p:txBody>
          <a:bodyPr anchor="ctr">
            <a:normAutofit/>
          </a:bodyPr>
          <a:lstStyle/>
          <a:p>
            <a:r>
              <a:rPr lang="en-GB" sz="6600">
                <a:latin typeface="Times New Roman" panose="02020603050405020304" pitchFamily="18" charset="0"/>
                <a:cs typeface="Times New Roman" panose="02020603050405020304" pitchFamily="18" charset="0"/>
              </a:rPr>
              <a:t>List of Certification</a:t>
            </a:r>
            <a:endParaRPr lang="en-US" sz="6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white certificate with black text&#10;&#10;Description automatically generated">
            <a:extLst>
              <a:ext uri="{FF2B5EF4-FFF2-40B4-BE49-F238E27FC236}">
                <a16:creationId xmlns:a16="http://schemas.microsoft.com/office/drawing/2014/main" id="{0B49A423-5B3A-C2E5-FC1C-8DEE70BBBC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80" y="2406272"/>
            <a:ext cx="3758184" cy="3413457"/>
          </a:xfrm>
          <a:prstGeom prst="rect">
            <a:avLst/>
          </a:prstGeom>
        </p:spPr>
      </p:pic>
      <p:pic>
        <p:nvPicPr>
          <p:cNvPr id="9" name="Picture 8" descr="A white certificate with black text&#10;&#10;Description automatically generated">
            <a:extLst>
              <a:ext uri="{FF2B5EF4-FFF2-40B4-BE49-F238E27FC236}">
                <a16:creationId xmlns:a16="http://schemas.microsoft.com/office/drawing/2014/main" id="{4DBA7032-8848-45D2-9FDE-EB71A304FF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592" y="2406272"/>
            <a:ext cx="3758184" cy="3413457"/>
          </a:xfrm>
          <a:prstGeom prst="rect">
            <a:avLst/>
          </a:prstGeom>
        </p:spPr>
      </p:pic>
      <p:pic>
        <p:nvPicPr>
          <p:cNvPr id="7" name="Picture 6" descr="A white cover with black text&#10;&#10;Description automatically generated">
            <a:extLst>
              <a:ext uri="{FF2B5EF4-FFF2-40B4-BE49-F238E27FC236}">
                <a16:creationId xmlns:a16="http://schemas.microsoft.com/office/drawing/2014/main" id="{14C85FB6-B451-B486-4CE8-371F8ECAAED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736" y="2406272"/>
            <a:ext cx="3758184" cy="3413457"/>
          </a:xfrm>
          <a:prstGeom prst="rect">
            <a:avLst/>
          </a:prstGeom>
        </p:spPr>
      </p:pic>
      <p:pic>
        <p:nvPicPr>
          <p:cNvPr id="4" name="Picture 3" descr="diu_logo_converted.png">
            <a:extLst>
              <a:ext uri="{FF2B5EF4-FFF2-40B4-BE49-F238E27FC236}">
                <a16:creationId xmlns:a16="http://schemas.microsoft.com/office/drawing/2014/main" id="{4BEC9B83-C917-7405-05B9-C0B1C397DE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0112" y="91440"/>
            <a:ext cx="18288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255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E05734-4A2E-AA2E-537C-8BAB1D5EB0E0}"/>
              </a:ext>
            </a:extLst>
          </p:cNvPr>
          <p:cNvSpPr txBox="1"/>
          <p:nvPr/>
        </p:nvSpPr>
        <p:spPr>
          <a:xfrm>
            <a:off x="2980267" y="2567518"/>
            <a:ext cx="6231467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4800" b="1" dirty="0">
                <a:latin typeface="+mj-lt"/>
              </a:rPr>
              <a:t>THANK YOU</a:t>
            </a:r>
            <a:endParaRPr lang="en-US" sz="4800" b="1" dirty="0">
              <a:latin typeface="+mj-lt"/>
            </a:endParaRPr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B1353DBE-AB02-FA77-4DA1-1C88D6CCF2F3}"/>
              </a:ext>
            </a:extLst>
          </p:cNvPr>
          <p:cNvSpPr/>
          <p:nvPr/>
        </p:nvSpPr>
        <p:spPr>
          <a:xfrm>
            <a:off x="5810251" y="3429000"/>
            <a:ext cx="632883" cy="620184"/>
          </a:xfrm>
          <a:prstGeom prst="smileyFace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BFA4B3-5425-EC70-2BC0-C40D3D91A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 descr="diu_logo_converted.png">
            <a:extLst>
              <a:ext uri="{FF2B5EF4-FFF2-40B4-BE49-F238E27FC236}">
                <a16:creationId xmlns:a16="http://schemas.microsoft.com/office/drawing/2014/main" id="{7CFAB47F-531B-2F78-7998-FC228C955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91440"/>
            <a:ext cx="18288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2">
            <a:extLst>
              <a:ext uri="{FF2B5EF4-FFF2-40B4-BE49-F238E27FC236}">
                <a16:creationId xmlns:a16="http://schemas.microsoft.com/office/drawing/2014/main" id="{44D4DBB6-F60E-6197-8564-69DD9E840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451" y="2457451"/>
            <a:ext cx="194310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1" name="TextBox 1">
            <a:extLst>
              <a:ext uri="{FF2B5EF4-FFF2-40B4-BE49-F238E27FC236}">
                <a16:creationId xmlns:a16="http://schemas.microsoft.com/office/drawing/2014/main" id="{ACB2DAF6-5045-E061-EE35-AA263CA2B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447" y="1595967"/>
            <a:ext cx="362310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en-GB" altLang="en-US" sz="4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???</a:t>
            </a:r>
            <a:endParaRPr lang="en-US" altLang="en-US" sz="2133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DA1586-A400-5DD0-3367-6B3B363E5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3" descr="diu_logo_converted.png">
            <a:extLst>
              <a:ext uri="{FF2B5EF4-FFF2-40B4-BE49-F238E27FC236}">
                <a16:creationId xmlns:a16="http://schemas.microsoft.com/office/drawing/2014/main" id="{661E0483-4DDE-47D7-FBD1-50767978F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91440"/>
            <a:ext cx="18288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34287</TotalTime>
  <Words>659</Words>
  <Application>Microsoft Office PowerPoint</Application>
  <PresentationFormat>Widescreen</PresentationFormat>
  <Paragraphs>85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  DRISHTI-Bn: A Parameter-Efficient Multimodal Vision-Language Framework for Simultaneous Flood Damage Classification and Bengali Caption Generation </vt:lpstr>
      <vt:lpstr>PowerPoint Presentation</vt:lpstr>
      <vt:lpstr>PowerPoint Presentation</vt:lpstr>
      <vt:lpstr>Objectives</vt:lpstr>
      <vt:lpstr>Research Gap</vt:lpstr>
      <vt:lpstr>Literature Review</vt:lpstr>
      <vt:lpstr>Methodology</vt:lpstr>
      <vt:lpstr>PowerPoint Presentation</vt:lpstr>
      <vt:lpstr>List of Certification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VARIANTS OF BARNACLE MATING OPTIMIZER FOR TIME-SERIES PREDICTION OF PANDEMIC OUTBREAKS</dc:title>
  <dc:creator>Marzia Ahmed</dc:creator>
  <cp:lastModifiedBy>Jahid Hasan</cp:lastModifiedBy>
  <cp:revision>171</cp:revision>
  <dcterms:created xsi:type="dcterms:W3CDTF">2023-10-03T04:05:12Z</dcterms:created>
  <dcterms:modified xsi:type="dcterms:W3CDTF">2026-07-10T18:12:41Z</dcterms:modified>
</cp:coreProperties>
</file>